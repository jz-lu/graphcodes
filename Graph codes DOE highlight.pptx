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0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1.xml" ContentType="application/vnd.openxmlformats-officedocument.theme+xml"/>
  <Override PartName="/ppt/slideLayouts/slideLayout35.xml" ContentType="application/vnd.openxmlformats-officedocument.presentationml.slideLayout+xml"/>
  <Override PartName="/ppt/theme/theme1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3.xml" ContentType="application/vnd.openxmlformats-officedocument.theme+xml"/>
  <Override PartName="/ppt/slideLayouts/slideLayout38.xml" ContentType="application/vnd.openxmlformats-officedocument.presentationml.slideLayout+xml"/>
  <Override PartName="/ppt/theme/theme14.xml" ContentType="application/vnd.openxmlformats-officedocument.theme+xml"/>
  <Override PartName="/ppt/slideLayouts/slideLayout39.xml" ContentType="application/vnd.openxmlformats-officedocument.presentationml.slideLayout+xml"/>
  <Override PartName="/ppt/theme/theme1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6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7.xml" ContentType="application/vnd.openxmlformats-officedocument.theme+xml"/>
  <Override PartName="/ppt/slideLayouts/slideLayout46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  <p:sldMasterId id="2147483672" r:id="rId5"/>
    <p:sldMasterId id="2147483677" r:id="rId6"/>
    <p:sldMasterId id="2147483679" r:id="rId7"/>
    <p:sldMasterId id="2147483682" r:id="rId8"/>
    <p:sldMasterId id="2147483684" r:id="rId9"/>
    <p:sldMasterId id="2147483686" r:id="rId10"/>
    <p:sldMasterId id="2147483691" r:id="rId11"/>
    <p:sldMasterId id="2147483694" r:id="rId12"/>
    <p:sldMasterId id="2147483696" r:id="rId13"/>
    <p:sldMasterId id="2147483704" r:id="rId14"/>
    <p:sldMasterId id="2147483709" r:id="rId15"/>
    <p:sldMasterId id="2147483711" r:id="rId16"/>
    <p:sldMasterId id="2147483714" r:id="rId17"/>
    <p:sldMasterId id="2147483716" r:id="rId18"/>
    <p:sldMasterId id="2147483718" r:id="rId19"/>
    <p:sldMasterId id="2147483723" r:id="rId20"/>
    <p:sldMasterId id="2147483726" r:id="rId21"/>
    <p:sldMasterId id="2147483728" r:id="rId22"/>
    <p:sldMasterId id="2147483730" r:id="rId23"/>
    <p:sldMasterId id="2147483731" r:id="rId24"/>
  </p:sldMasterIdLst>
  <p:notesMasterIdLst>
    <p:notesMasterId r:id="rId27"/>
  </p:notesMasterIdLst>
  <p:handoutMasterIdLst>
    <p:handoutMasterId r:id="rId28"/>
  </p:handoutMasterIdLst>
  <p:sldIdLst>
    <p:sldId id="270" r:id="rId25"/>
    <p:sldId id="280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rtlin" initials="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636"/>
    <a:srgbClr val="106600"/>
    <a:srgbClr val="008000"/>
    <a:srgbClr val="F0F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 autoAdjust="0"/>
    <p:restoredTop sz="94694" autoAdjust="0"/>
  </p:normalViewPr>
  <p:slideViewPr>
    <p:cSldViewPr>
      <p:cViewPr>
        <p:scale>
          <a:sx n="128" d="100"/>
          <a:sy n="128" d="100"/>
        </p:scale>
        <p:origin x="552" y="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2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23E8C-FA44-4993-A678-63B7AC20CC23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747C0-E24C-47AA-B529-C34075BA04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70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F98BB69-19D5-425C-B33D-FC77D5A6EC32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6210A8A-16C0-4562-AD3A-B1BC2569C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9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10A8A-16C0-4562-AD3A-B1BC2569C64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10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400" y="6248400"/>
            <a:ext cx="3556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69" tIns="45587" rIns="91169" bIns="455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5" name="Picture 8" descr="horizontal-logo-green-tex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0000" y="304821"/>
            <a:ext cx="71120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609600" y="1981200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14673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1E85B-7BF8-4BD7-AC1E-4E995D3832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22FF3-B2FF-4B9D-A1FC-2641F0BD8C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FA2B4D-A9D7-4935-A3AF-CDF720EF85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8814" y="275348"/>
            <a:ext cx="10974413" cy="58504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1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1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fld id="{962462C6-2360-4477-A776-64E82B86702C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AD6B-B989-4DFB-8FCF-33FA260201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06" indent="0">
              <a:buNone/>
              <a:defRPr sz="2000" b="1"/>
            </a:lvl2pPr>
            <a:lvl3pPr marL="913010" indent="0">
              <a:buNone/>
              <a:defRPr sz="1800" b="1"/>
            </a:lvl3pPr>
            <a:lvl4pPr marL="1369517" indent="0">
              <a:buNone/>
              <a:defRPr sz="1600" b="1"/>
            </a:lvl4pPr>
            <a:lvl5pPr marL="1826021" indent="0">
              <a:buNone/>
              <a:defRPr sz="1600" b="1"/>
            </a:lvl5pPr>
            <a:lvl6pPr marL="2282529" indent="0">
              <a:buNone/>
              <a:defRPr sz="1600" b="1"/>
            </a:lvl6pPr>
            <a:lvl7pPr marL="2739032" indent="0">
              <a:buNone/>
              <a:defRPr sz="1600" b="1"/>
            </a:lvl7pPr>
            <a:lvl8pPr marL="3195539" indent="0">
              <a:buNone/>
              <a:defRPr sz="1600" b="1"/>
            </a:lvl8pPr>
            <a:lvl9pPr marL="36520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06" indent="0">
              <a:buNone/>
              <a:defRPr sz="2000" b="1"/>
            </a:lvl2pPr>
            <a:lvl3pPr marL="913010" indent="0">
              <a:buNone/>
              <a:defRPr sz="1800" b="1"/>
            </a:lvl3pPr>
            <a:lvl4pPr marL="1369517" indent="0">
              <a:buNone/>
              <a:defRPr sz="1600" b="1"/>
            </a:lvl4pPr>
            <a:lvl5pPr marL="1826021" indent="0">
              <a:buNone/>
              <a:defRPr sz="1600" b="1"/>
            </a:lvl5pPr>
            <a:lvl6pPr marL="2282529" indent="0">
              <a:buNone/>
              <a:defRPr sz="1600" b="1"/>
            </a:lvl6pPr>
            <a:lvl7pPr marL="2739032" indent="0">
              <a:buNone/>
              <a:defRPr sz="1600" b="1"/>
            </a:lvl7pPr>
            <a:lvl8pPr marL="3195539" indent="0">
              <a:buNone/>
              <a:defRPr sz="1600" b="1"/>
            </a:lvl8pPr>
            <a:lvl9pPr marL="36520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fld id="{962462C6-2360-4477-A776-64E82B86702C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AD6B-B989-4DFB-8FCF-33FA260201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/>
          <a:lstStyle/>
          <a:p>
            <a:fld id="{68F455FD-F83C-4433-AE11-4D89943CC4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6400" y="6248400"/>
            <a:ext cx="3556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69" tIns="45587" rIns="91169" bIns="455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5" name="Picture 8" descr="horizontal-logo-green-text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0000" y="304801"/>
            <a:ext cx="71120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609600" y="1981200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14673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6AD9D86-BCF8-4412-8F8D-129D4489B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E1729-7B66-438D-96AE-E110E2404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C652A-1437-4DEE-BE20-1D8E4CBD3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38BCC3B-A37C-4951-BD7F-ADEEE3040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ct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r>
              <a:rPr lang="en-US"/>
              <a:t>http://www.science.doe.gov/bes/</a:t>
            </a:r>
            <a:endParaRPr lang="en-US" b="1">
              <a:latin typeface="TimesNewRomanPSMT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81FEFC3E-B1CF-4B09-AD96-BF17A7EADA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AA921-4423-419F-989D-ABD5BD36FE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46618C00-16D3-4AB7-B129-48D8D5EFEF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9FEA1-DB86-4801-A37E-E46E248BDA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ctr">
              <a:defRPr sz="1800"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r>
              <a:rPr lang="en-US"/>
              <a:t>http://www.science.doe.gov/bes/</a:t>
            </a:r>
            <a:endParaRPr lang="en-US" b="1">
              <a:latin typeface="TimesNewRomanPSMT"/>
            </a:endParaRPr>
          </a:p>
        </p:txBody>
      </p:sp>
      <p:sp>
        <p:nvSpPr>
          <p:cNvPr id="4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7EF7118B-8DA2-41CF-B260-A3484F13D4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800" y="275333"/>
            <a:ext cx="1097441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795" y="1599911"/>
            <a:ext cx="5390444" cy="4525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2766" y="1599911"/>
            <a:ext cx="5390444" cy="4525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FA2B4D-A9D7-4935-A3AF-CDF720EF85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22FF3-B2FF-4B9D-A1FC-2641F0BD8C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400" y="6248400"/>
            <a:ext cx="3556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69" tIns="45587" rIns="91169" bIns="455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5" name="Picture 8" descr="horizontal-logo-green-tex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0000" y="304821"/>
            <a:ext cx="71120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609600" y="1981200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14673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1E85B-7BF8-4BD7-AC1E-4E995D3832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22FF3-B2FF-4B9D-A1FC-2641F0BD8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FA2B4D-A9D7-4935-A3AF-CDF720EF85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8814" y="275348"/>
            <a:ext cx="10974413" cy="58504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1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1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fld id="{962462C6-2360-4477-A776-64E82B86702C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AD6B-B989-4DFB-8FCF-33FA260201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06" indent="0">
              <a:buNone/>
              <a:defRPr sz="2000" b="1"/>
            </a:lvl2pPr>
            <a:lvl3pPr marL="913010" indent="0">
              <a:buNone/>
              <a:defRPr sz="1800" b="1"/>
            </a:lvl3pPr>
            <a:lvl4pPr marL="1369517" indent="0">
              <a:buNone/>
              <a:defRPr sz="1600" b="1"/>
            </a:lvl4pPr>
            <a:lvl5pPr marL="1826021" indent="0">
              <a:buNone/>
              <a:defRPr sz="1600" b="1"/>
            </a:lvl5pPr>
            <a:lvl6pPr marL="2282529" indent="0">
              <a:buNone/>
              <a:defRPr sz="1600" b="1"/>
            </a:lvl6pPr>
            <a:lvl7pPr marL="2739032" indent="0">
              <a:buNone/>
              <a:defRPr sz="1600" b="1"/>
            </a:lvl7pPr>
            <a:lvl8pPr marL="3195539" indent="0">
              <a:buNone/>
              <a:defRPr sz="1600" b="1"/>
            </a:lvl8pPr>
            <a:lvl9pPr marL="36520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06" indent="0">
              <a:buNone/>
              <a:defRPr sz="2000" b="1"/>
            </a:lvl2pPr>
            <a:lvl3pPr marL="913010" indent="0">
              <a:buNone/>
              <a:defRPr sz="1800" b="1"/>
            </a:lvl3pPr>
            <a:lvl4pPr marL="1369517" indent="0">
              <a:buNone/>
              <a:defRPr sz="1600" b="1"/>
            </a:lvl4pPr>
            <a:lvl5pPr marL="1826021" indent="0">
              <a:buNone/>
              <a:defRPr sz="1600" b="1"/>
            </a:lvl5pPr>
            <a:lvl6pPr marL="2282529" indent="0">
              <a:buNone/>
              <a:defRPr sz="1600" b="1"/>
            </a:lvl6pPr>
            <a:lvl7pPr marL="2739032" indent="0">
              <a:buNone/>
              <a:defRPr sz="1600" b="1"/>
            </a:lvl7pPr>
            <a:lvl8pPr marL="3195539" indent="0">
              <a:buNone/>
              <a:defRPr sz="1600" b="1"/>
            </a:lvl8pPr>
            <a:lvl9pPr marL="36520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fld id="{962462C6-2360-4477-A776-64E82B86702C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lIns="91301" tIns="45652" rIns="91301" bIns="45652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AD6B-B989-4DFB-8FCF-33FA260201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/>
          <a:lstStyle/>
          <a:p>
            <a:fld id="{68F455FD-F83C-4433-AE11-4D89943CC4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6400" y="6248400"/>
            <a:ext cx="3556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69" tIns="45587" rIns="91169" bIns="455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5" name="Picture 8" descr="horizontal-logo-green-text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0000" y="304801"/>
            <a:ext cx="711200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609600" y="1981200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14673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6AD9D86-BCF8-4412-8F8D-129D4489B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E1729-7B66-438D-96AE-E110E2404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  <a:prstGeom prst="rect">
            <a:avLst/>
          </a:prstGeom>
        </p:spPr>
        <p:txBody>
          <a:bodyPr lIns="91365" tIns="45683" rIns="91365" bIns="45683"/>
          <a:lstStyle>
            <a:lvl1pPr algn="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71BFFFE-0D05-4D66-940B-5D906D6749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C652A-1437-4DEE-BE20-1D8E4CBD3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38BCC3B-A37C-4951-BD7F-ADEEE3040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ct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r>
              <a:rPr lang="en-US"/>
              <a:t>http://www.science.doe.gov/bes/</a:t>
            </a:r>
            <a:endParaRPr lang="en-US" b="1">
              <a:latin typeface="TimesNewRomanPSMT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81FEFC3E-B1CF-4B09-AD96-BF17A7EADA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AA921-4423-419F-989D-ABD5BD36FE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46618C00-16D3-4AB7-B129-48D8D5EFEF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9FEA1-DB86-4801-A37E-E46E248BDA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1107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7010400" cy="365125"/>
          </a:xfrm>
        </p:spPr>
        <p:txBody>
          <a:bodyPr/>
          <a:lstStyle>
            <a:lvl1pPr algn="ctr">
              <a:defRPr sz="1800"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r>
              <a:rPr lang="en-US"/>
              <a:t>http://www.science.doe.gov/bes/</a:t>
            </a:r>
            <a:endParaRPr lang="en-US" b="1">
              <a:latin typeface="TimesNewRomanPSMT"/>
            </a:endParaRPr>
          </a:p>
        </p:txBody>
      </p:sp>
      <p:sp>
        <p:nvSpPr>
          <p:cNvPr id="4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11176000" y="6351589"/>
            <a:ext cx="6096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7EF7118B-8DA2-41CF-B260-A3484F13D4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800" y="275333"/>
            <a:ext cx="1097441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795" y="1599911"/>
            <a:ext cx="5390444" cy="4525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2766" y="1599911"/>
            <a:ext cx="5390444" cy="4525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FA2B4D-A9D7-4935-A3AF-CDF720EF85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22FF3-B2FF-4B9D-A1FC-2641F0BD8C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b="0" u="none"/>
              <a:t>Office of Science FY 2011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C3E240-9EB6-4604-A43D-9910B3F588EA}" type="slidenum">
              <a:rPr lang="en-US" b="0" u="none" smtClean="0"/>
              <a:pPr>
                <a:defRPr/>
              </a:pPr>
              <a:t>‹#›</a:t>
            </a:fld>
            <a:endParaRPr lang="en-US" b="0" u="none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6400" y="6248400"/>
            <a:ext cx="3556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69" tIns="45587" rIns="91169" bIns="45587" anchor="ctr"/>
          <a:lstStyle/>
          <a:p>
            <a:pPr algn="ctr"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609600" y="1981200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146737"/>
                </a:solidFill>
              </a:defRPr>
            </a:lvl1pPr>
          </a:lstStyle>
          <a:p>
            <a:r>
              <a:rPr lang="en-US" dirty="0"/>
              <a:t>NERSC Science Highlights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6AD9D86-BCF8-4412-8F8D-129D4489B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bignersclogo-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9600" y="1"/>
            <a:ext cx="5588000" cy="144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669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 lIns="91301" tIns="45652" rIns="91301" bIns="45652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E1729-7B66-438D-96AE-E110E2404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594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-228600"/>
            <a:ext cx="9550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0"/>
          </p:nvPr>
        </p:nvSpPr>
        <p:spPr>
          <a:xfrm>
            <a:off x="4267200" y="6356351"/>
            <a:ext cx="3962400" cy="349250"/>
          </a:xfrm>
          <a:prstGeom prst="rect">
            <a:avLst/>
          </a:prstGeom>
        </p:spPr>
        <p:txBody>
          <a:bodyPr lIns="91365" tIns="45683" rIns="91365" bIns="45683"/>
          <a:lstStyle>
            <a:lvl1pPr algn="r">
              <a:defRPr b="0">
                <a:solidFill>
                  <a:srgbClr val="146737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401" y="152401"/>
            <a:ext cx="1816401" cy="47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853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C652A-1437-4DEE-BE20-1D8E4CBD3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179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376767" y="228600"/>
            <a:ext cx="5647267" cy="4187952"/>
          </a:xfrm>
          <a:prstGeom prst="rect">
            <a:avLst/>
          </a:prstGeom>
          <a:solidFill>
            <a:srgbClr val="194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prstClr val="white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6165851" y="4764682"/>
            <a:ext cx="5619749" cy="933450"/>
          </a:xfrm>
        </p:spPr>
        <p:txBody>
          <a:bodyPr anchor="ctr" anchorCtr="0">
            <a:normAutofit/>
          </a:bodyPr>
          <a:lstStyle>
            <a:lvl1pPr marL="0" indent="0">
              <a:defRPr sz="2800">
                <a:solidFill>
                  <a:srgbClr val="194963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99715" y="595580"/>
            <a:ext cx="4626695" cy="3468418"/>
          </a:xfrm>
        </p:spPr>
        <p:txBody>
          <a:bodyPr lIns="45720" tIns="45720" rIns="45720" anchor="ctr" anchorCtr="0">
            <a:norm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Helvetica Neue Bold Condensed"/>
                <a:cs typeface="Helvetica Neue Bold Condensed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dirty="0"/>
              <a:t>Click to edit Master title styles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986570" y="6368806"/>
            <a:ext cx="3818876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Footer Information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488875" y="6368806"/>
            <a:ext cx="1234277" cy="365125"/>
          </a:xfrm>
        </p:spPr>
        <p:txBody>
          <a:bodyPr/>
          <a:lstStyle/>
          <a:p>
            <a:r>
              <a:rPr lang="en-US"/>
              <a:t>- </a:t>
            </a:r>
            <a:fld id="{D174BAF6-F8F2-EF4F-936C-8DF63288C82F}" type="slidenum">
              <a:rPr lang="en-US" smtClean="0"/>
              <a:pPr/>
              <a:t>‹#›</a:t>
            </a:fld>
            <a:r>
              <a:rPr lang="en-US"/>
              <a:t> -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6"/>
          </p:nvPr>
        </p:nvSpPr>
        <p:spPr>
          <a:xfrm>
            <a:off x="6165851" y="578198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400" b="1" i="0">
                <a:solidFill>
                  <a:srgbClr val="194963"/>
                </a:solidFill>
              </a:defRPr>
            </a:lvl1pPr>
          </a:lstStyle>
          <a:p>
            <a:fld id="{D897A66F-DFB6-CB44-8B31-7FAB7C20B0C7}" type="datetime4">
              <a:rPr lang="en-US" smtClean="0"/>
              <a:pPr/>
              <a:t>December 5, 2024</a:t>
            </a:fld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9334" y="2379133"/>
            <a:ext cx="2760133" cy="20701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9334" y="241300"/>
            <a:ext cx="2760133" cy="20701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9379" y="241300"/>
            <a:ext cx="2767584" cy="20756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1868"/>
          <a:stretch/>
        </p:blipFill>
        <p:spPr>
          <a:xfrm>
            <a:off x="6175021" y="2379134"/>
            <a:ext cx="2767584" cy="99906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350" y="3475567"/>
            <a:ext cx="1298468" cy="97180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08303" y="3467099"/>
            <a:ext cx="1286933" cy="977900"/>
          </a:xfrm>
          <a:prstGeom prst="rect">
            <a:avLst/>
          </a:prstGeom>
        </p:spPr>
      </p:pic>
      <p:sp>
        <p:nvSpPr>
          <p:cNvPr id="43" name="Rectangle 42"/>
          <p:cNvSpPr/>
          <p:nvPr userDrawn="1"/>
        </p:nvSpPr>
        <p:spPr>
          <a:xfrm>
            <a:off x="6185725" y="4065601"/>
            <a:ext cx="507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FES</a:t>
            </a:r>
          </a:p>
        </p:txBody>
      </p:sp>
      <p:sp>
        <p:nvSpPr>
          <p:cNvPr id="44" name="Rectangle 43"/>
          <p:cNvSpPr/>
          <p:nvPr userDrawn="1"/>
        </p:nvSpPr>
        <p:spPr>
          <a:xfrm>
            <a:off x="7890358" y="4065601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BER</a:t>
            </a:r>
          </a:p>
        </p:txBody>
      </p:sp>
      <p:sp>
        <p:nvSpPr>
          <p:cNvPr id="45" name="Rectangle 44"/>
          <p:cNvSpPr/>
          <p:nvPr userDrawn="1"/>
        </p:nvSpPr>
        <p:spPr>
          <a:xfrm>
            <a:off x="9064391" y="4065601"/>
            <a:ext cx="5661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HEP</a:t>
            </a:r>
          </a:p>
        </p:txBody>
      </p:sp>
      <p:sp>
        <p:nvSpPr>
          <p:cNvPr id="46" name="Rectangle 45"/>
          <p:cNvSpPr/>
          <p:nvPr userDrawn="1"/>
        </p:nvSpPr>
        <p:spPr>
          <a:xfrm>
            <a:off x="9064393" y="194046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NP</a:t>
            </a:r>
          </a:p>
        </p:txBody>
      </p:sp>
      <p:sp>
        <p:nvSpPr>
          <p:cNvPr id="47" name="Rectangle 46"/>
          <p:cNvSpPr/>
          <p:nvPr userDrawn="1"/>
        </p:nvSpPr>
        <p:spPr>
          <a:xfrm>
            <a:off x="6185727" y="1948933"/>
            <a:ext cx="531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BES</a:t>
            </a:r>
          </a:p>
        </p:txBody>
      </p:sp>
      <p:sp>
        <p:nvSpPr>
          <p:cNvPr id="48" name="Rectangle 47"/>
          <p:cNvSpPr/>
          <p:nvPr userDrawn="1"/>
        </p:nvSpPr>
        <p:spPr>
          <a:xfrm>
            <a:off x="6185727" y="3015732"/>
            <a:ext cx="681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</a:rPr>
              <a:t>ASCR</a:t>
            </a:r>
          </a:p>
        </p:txBody>
      </p:sp>
      <p:pic>
        <p:nvPicPr>
          <p:cNvPr id="23" name="Picture 1" descr="NERSC-logo-color-transparent-edges.gif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7200" y="4953001"/>
            <a:ext cx="2613496" cy="744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23408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456" y="4450222"/>
            <a:ext cx="11332661" cy="769479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986570" y="6368806"/>
            <a:ext cx="3818876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Footer Information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- </a:t>
            </a:r>
            <a:fld id="{D174BAF6-F8F2-EF4F-936C-8DF63288C82F}" type="slidenum">
              <a:rPr lang="en-US" smtClean="0"/>
              <a:pPr/>
              <a:t>‹#›</a:t>
            </a:fld>
            <a:r>
              <a:rPr lang="en-US"/>
              <a:t> -</a:t>
            </a:r>
            <a:endParaRPr lang="en-US" dirty="0"/>
          </a:p>
        </p:txBody>
      </p:sp>
      <p:pic>
        <p:nvPicPr>
          <p:cNvPr id="6" name="Picture 8" descr="NERSCvertLOCKUP.ai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144" y="1462528"/>
            <a:ext cx="11074400" cy="2957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412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jpe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jpe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.jpeg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3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35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.jpe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.jpe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.jpeg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4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.jpe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21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29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605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AD86A7-DF98-4833-9A9E-353DA9F97E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2"/>
          <p:cNvSpPr txBox="1">
            <a:spLocks noChangeArrowheads="1"/>
          </p:cNvSpPr>
          <p:nvPr userDrawn="1"/>
        </p:nvSpPr>
        <p:spPr bwMode="auto">
          <a:xfrm>
            <a:off x="6287347" y="6155690"/>
            <a:ext cx="588433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600" b="1" i="1" dirty="0">
                <a:solidFill>
                  <a:srgbClr val="000000"/>
                </a:solidFill>
                <a:latin typeface="Arial" charset="0"/>
              </a:rPr>
              <a:t>an Office of Basic Energy Sciences</a:t>
            </a:r>
            <a:r>
              <a:rPr lang="en-US" sz="1800" b="1" i="1" dirty="0">
                <a:solidFill>
                  <a:srgbClr val="808080"/>
                </a:solidFill>
                <a:latin typeface="Arial" charset="0"/>
              </a:rPr>
              <a:t> </a:t>
            </a:r>
            <a:r>
              <a:rPr lang="en-US" sz="1800" b="1" i="1" dirty="0">
                <a:solidFill>
                  <a:srgbClr val="146636"/>
                </a:solidFill>
                <a:latin typeface="Arial" charset="0"/>
              </a:rPr>
              <a:t>Energy Frontier Research Center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auto">
          <a:xfrm>
            <a:off x="0" y="987425"/>
            <a:ext cx="12192000" cy="42863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558" tIns="42028" rIns="85558" bIns="42028"/>
          <a:lstStyle/>
          <a:p>
            <a:pPr algn="ctr" defTabSz="86677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200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0" y="6053138"/>
            <a:ext cx="12192000" cy="42862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558" tIns="42028" rIns="85558" bIns="42028"/>
          <a:lstStyle/>
          <a:p>
            <a:pPr algn="ctr" defTabSz="86677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200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pic>
        <p:nvPicPr>
          <p:cNvPr id="10" name="Picture 9" descr="DOE_SC_logo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384144" y="281409"/>
            <a:ext cx="3657600" cy="5078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891" indent="-34189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763" indent="-28490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636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5495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347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06B74A-FC86-4F43-83EB-56E873241F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3" name="Picture 9" descr="horizontal-logo-green-text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8095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598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04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55534" y="161925"/>
            <a:ext cx="6887633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6" tIns="45609" rIns="91216" bIns="456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70013"/>
            <a:ext cx="10972800" cy="519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594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88238" y="6619889"/>
            <a:ext cx="50376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>
                <a:solidFill>
                  <a:srgbClr val="000000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3150EC00-9A0A-49C1-95F3-32FE6EB7C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35942" name="Rectangle 6"/>
          <p:cNvSpPr>
            <a:spLocks noChangeArrowheads="1"/>
          </p:cNvSpPr>
          <p:nvPr/>
        </p:nvSpPr>
        <p:spPr bwMode="auto">
          <a:xfrm>
            <a:off x="0" y="987425"/>
            <a:ext cx="12192000" cy="42863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348" tIns="41923" rIns="85348" bIns="41923"/>
          <a:lstStyle/>
          <a:p>
            <a:pPr defTabSz="864350" eaLnBrk="0" hangingPunct="0">
              <a:lnSpc>
                <a:spcPct val="85000"/>
              </a:lnSpc>
              <a:defRPr/>
            </a:pPr>
            <a:endParaRPr lang="en-US" sz="2200" b="1" i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  <a:cs typeface="Arial" pitchFamily="34" charset="0"/>
            </a:endParaRPr>
          </a:p>
        </p:txBody>
      </p:sp>
      <p:pic>
        <p:nvPicPr>
          <p:cNvPr id="4102" name="Picture 7" descr="New_DOE_Logo_Color_04280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5600" y="190514"/>
            <a:ext cx="2567517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09428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818855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228284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637712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23497" indent="-223497" algn="l" defTabSz="909844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0006" indent="-223497" algn="l" defTabSz="909844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6510" indent="-223497" algn="l" defTabSz="909844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3013" indent="-223497" algn="l" defTabSz="909844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9519" indent="-223497" algn="l" defTabSz="909844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62252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6pPr>
      <a:lvl7pPr marL="2871686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7pPr>
      <a:lvl8pPr marL="3281113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8pPr>
      <a:lvl9pPr marL="3690544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9428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8855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8284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7712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7144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56572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65999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75428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80" tIns="45641" rIns="91280" bIns="456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80" tIns="45641" rIns="91280" bIns="45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280" tIns="45641" rIns="91280" bIns="45641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280" tIns="45641" rIns="91280" bIns="45641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61FF155-EBDD-4976-A1DE-512077D6B8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078" name="Picture 9" descr="horizontal-logo-green-text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640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279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919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559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680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6186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2691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0194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6594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2991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9388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00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797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197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594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995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391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792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189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31" tIns="45567" rIns="91131" bIns="455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9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31" tIns="45567" rIns="91131" bIns="455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31" tIns="45567" rIns="91131" bIns="4556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31" tIns="45567" rIns="91131" bIns="4556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93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656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30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695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609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39" indent="-34173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431" indent="-28477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131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785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433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090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1740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392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3042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656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305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957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609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261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3912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567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216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42" tIns="45573" rIns="91142" bIns="4557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42" tIns="45573" rIns="91142" bIns="45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42" tIns="45573" rIns="91142" bIns="4557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42" tIns="45573" rIns="91142" bIns="4557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92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709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41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11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82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79" indent="-34177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518" indent="-28481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264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971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673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383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087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791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3495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709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41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117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82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527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423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940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643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2" tIns="45583" rIns="91162" bIns="4558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5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2" tIns="45583" rIns="91162" bIns="45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62" tIns="45583" rIns="91162" bIns="4558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2" tIns="45583" rIns="91162" bIns="4558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6354790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1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62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43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24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859" indent="-34185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692" indent="-28488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531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5344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53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969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780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591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401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1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62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437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248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060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4871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686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49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26" tIns="45565" rIns="91126" bIns="4556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4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26" tIns="45565" rIns="91126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605"/>
            <a:ext cx="508000" cy="365125"/>
          </a:xfrm>
          <a:prstGeom prst="rect">
            <a:avLst/>
          </a:prstGeom>
        </p:spPr>
        <p:txBody>
          <a:bodyPr vert="horz" lIns="91126" tIns="45565" rIns="91126" bIns="4556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AD86A7-DF98-4833-9A9E-353DA9F97E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6354781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64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28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692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56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31" indent="-34173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415" indent="-28477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103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750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388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033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1674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315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2957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642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284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921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568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208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3850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495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136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58" tIns="45630" rIns="91258" bIns="4563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23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58" tIns="45630" rIns="91258" bIns="45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258" tIns="45630" rIns="91258" bIns="4563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258" tIns="45630" rIns="91258" bIns="4563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81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629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2583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887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516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2219" indent="-34221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1473" indent="-28518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40731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7023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3313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9607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5900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2191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8480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294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583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877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168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461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7751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045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0335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29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605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AD86A7-DF98-4833-9A9E-353DA9F97E6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2"/>
          <p:cNvSpPr txBox="1">
            <a:spLocks noChangeArrowheads="1"/>
          </p:cNvSpPr>
          <p:nvPr userDrawn="1"/>
        </p:nvSpPr>
        <p:spPr bwMode="auto">
          <a:xfrm>
            <a:off x="6287347" y="6155690"/>
            <a:ext cx="588433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600" b="1" i="1" dirty="0">
                <a:solidFill>
                  <a:srgbClr val="000000"/>
                </a:solidFill>
                <a:latin typeface="Arial" charset="0"/>
              </a:rPr>
              <a:t>an Office of Basic Energy Sciences</a:t>
            </a:r>
            <a:r>
              <a:rPr lang="en-US" sz="1800" b="1" i="1" dirty="0">
                <a:solidFill>
                  <a:srgbClr val="808080"/>
                </a:solidFill>
                <a:latin typeface="Arial" charset="0"/>
              </a:rPr>
              <a:t> </a:t>
            </a:r>
            <a:r>
              <a:rPr lang="en-US" sz="1800" b="1" i="1" dirty="0">
                <a:solidFill>
                  <a:srgbClr val="146636"/>
                </a:solidFill>
                <a:latin typeface="Arial" charset="0"/>
              </a:rPr>
              <a:t>Energy Frontier Research Center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auto">
          <a:xfrm>
            <a:off x="0" y="987425"/>
            <a:ext cx="12192000" cy="42863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558" tIns="42028" rIns="85558" bIns="42028"/>
          <a:lstStyle/>
          <a:p>
            <a:pPr algn="ctr" defTabSz="86677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200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0" y="6053138"/>
            <a:ext cx="12192000" cy="42862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558" tIns="42028" rIns="85558" bIns="42028"/>
          <a:lstStyle/>
          <a:p>
            <a:pPr algn="ctr" defTabSz="866775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200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</a:endParaRPr>
          </a:p>
        </p:txBody>
      </p:sp>
      <p:pic>
        <p:nvPicPr>
          <p:cNvPr id="10" name="Picture 9" descr="DOE_SC_logo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384144" y="281409"/>
            <a:ext cx="3657600" cy="5078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891" indent="-34189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763" indent="-28490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636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5495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347" indent="-2279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06B74A-FC86-4F43-83EB-56E873241F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3" name="Picture 9" descr="horizontal-logo-green-text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8095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598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04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55534" y="161925"/>
            <a:ext cx="6887633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6" tIns="45609" rIns="91216" bIns="456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70013"/>
            <a:ext cx="10972800" cy="519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594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88238" y="6619889"/>
            <a:ext cx="50376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>
                <a:solidFill>
                  <a:srgbClr val="000000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3150EC00-9A0A-49C1-95F3-32FE6EB7C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35942" name="Rectangle 6"/>
          <p:cNvSpPr>
            <a:spLocks noChangeArrowheads="1"/>
          </p:cNvSpPr>
          <p:nvPr/>
        </p:nvSpPr>
        <p:spPr bwMode="auto">
          <a:xfrm>
            <a:off x="0" y="987425"/>
            <a:ext cx="12192000" cy="42863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5348" tIns="41923" rIns="85348" bIns="41923"/>
          <a:lstStyle/>
          <a:p>
            <a:pPr defTabSz="864350" eaLnBrk="0" hangingPunct="0">
              <a:lnSpc>
                <a:spcPct val="85000"/>
              </a:lnSpc>
              <a:defRPr/>
            </a:pPr>
            <a:endParaRPr lang="en-US" sz="2200" b="1" i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 Antiqua" pitchFamily="18" charset="0"/>
              <a:cs typeface="Arial" pitchFamily="34" charset="0"/>
            </a:endParaRPr>
          </a:p>
        </p:txBody>
      </p:sp>
      <p:pic>
        <p:nvPicPr>
          <p:cNvPr id="4102" name="Picture 7" descr="New_DOE_Logo_Color_04280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5600" y="190514"/>
            <a:ext cx="2567517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84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09428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818855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228284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637712" algn="ctr" defTabSz="912684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23497" indent="-223497" algn="l" defTabSz="909844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0006" indent="-223497" algn="l" defTabSz="909844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36510" indent="-223497" algn="l" defTabSz="909844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3013" indent="-223497" algn="l" defTabSz="909844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49519" indent="-223497" algn="l" defTabSz="909844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62252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6pPr>
      <a:lvl7pPr marL="2871686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7pPr>
      <a:lvl8pPr marL="3281113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8pPr>
      <a:lvl9pPr marL="3690544" indent="-227468" algn="l" defTabSz="912684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9428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8855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8284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7712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7144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56572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65999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75428" algn="l" defTabSz="81885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80" tIns="45641" rIns="91280" bIns="456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80" tIns="45641" rIns="91280" bIns="45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280" tIns="45641" rIns="91280" bIns="45641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280" tIns="45641" rIns="91280" bIns="45641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61FF155-EBDD-4976-A1DE-512077D6B8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078" name="Picture 9" descr="horizontal-logo-green-text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640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279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919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559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680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6186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2691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0194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6594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2991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9388" indent="-228203" algn="l" defTabSz="9127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00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797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197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594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995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391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792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189" algn="l" defTabSz="9127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31" tIns="45567" rIns="91131" bIns="455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9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31" tIns="45567" rIns="91131" bIns="455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31" tIns="45567" rIns="91131" bIns="4556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31" tIns="45567" rIns="91131" bIns="4556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93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656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30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695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609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39" indent="-34173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431" indent="-28477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131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785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433" indent="-227836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090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1740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392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3042" indent="-227836" algn="l" defTabSz="911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656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305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957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609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261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3912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567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216" algn="l" defTabSz="911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42" tIns="45573" rIns="91142" bIns="4557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42" tIns="45573" rIns="91142" bIns="45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42" tIns="45573" rIns="91142" bIns="4557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42" tIns="45573" rIns="91142" bIns="4557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92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709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41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11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82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79" indent="-34177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518" indent="-28481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264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971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673" indent="-22786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383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087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791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3495" indent="-227862" algn="l" defTabSz="9114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709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41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117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82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527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4232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940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643" algn="l" defTabSz="9114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2" tIns="45583" rIns="91162" bIns="4558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5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2" tIns="45583" rIns="91162" bIns="45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162" tIns="45583" rIns="91162" bIns="4558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2" tIns="45583" rIns="91162" bIns="4558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6354790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1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62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43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24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859" indent="-34185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692" indent="-28488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531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5344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53" indent="-227914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969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780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591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401" indent="-227914" algn="l" defTabSz="91162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1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62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437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248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060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4871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686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495" algn="l" defTabSz="9116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26" tIns="45565" rIns="91126" bIns="4556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34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26" tIns="45565" rIns="91126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605"/>
            <a:ext cx="508000" cy="365125"/>
          </a:xfrm>
          <a:prstGeom prst="rect">
            <a:avLst/>
          </a:prstGeom>
        </p:spPr>
        <p:txBody>
          <a:bodyPr vert="horz" lIns="91126" tIns="45565" rIns="91126" bIns="4556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AD86A7-DF98-4833-9A9E-353DA9F97E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6354781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642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28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692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256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1731" indent="-34173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415" indent="-28477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9103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750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0388" indent="-22782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6033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1674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7315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2957" indent="-227827" algn="l" defTabSz="9112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642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284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6921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568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8208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3850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9495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5136" algn="l" defTabSz="9112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58" tIns="45630" rIns="91258" bIns="4563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23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58" tIns="45630" rIns="91258" bIns="45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7112000" cy="365125"/>
          </a:xfrm>
          <a:prstGeom prst="rect">
            <a:avLst/>
          </a:prstGeom>
        </p:spPr>
        <p:txBody>
          <a:bodyPr vert="horz" lIns="91258" tIns="45630" rIns="91258" bIns="4563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Office of Science FY 2011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258" tIns="45630" rIns="91258" bIns="4563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1C3E240-9EB6-4604-A43D-9910B3F58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9" descr="horizontal-logo-green-text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354781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6294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2583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8877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5168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2219" indent="-34221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1473" indent="-28518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40731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7023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3313" indent="-2281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9607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5900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2191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8480" indent="-228150" algn="l" defTabSz="91258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294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583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877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168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461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7751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045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0335" algn="l" defTabSz="912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06B74A-FC86-4F43-83EB-56E873241F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3" name="Picture 9" descr="horizontal-logo-green-tex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600" b="1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8095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598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04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06B74A-FC86-4F43-83EB-56E873241F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3" name="Picture 9" descr="horizontal-logo-green-text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8095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598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04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219075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18" y="866775"/>
            <a:ext cx="11214100" cy="525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69" tIns="45587" rIns="91169" bIns="45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8333" y="6351589"/>
            <a:ext cx="508000" cy="365125"/>
          </a:xfrm>
          <a:prstGeom prst="rect">
            <a:avLst/>
          </a:prstGeom>
        </p:spPr>
        <p:txBody>
          <a:bodyPr vert="horz" lIns="91169" tIns="45587" rIns="91169" bIns="45587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10663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706B74A-FC86-4F43-83EB-56E873241F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3" name="Picture 9" descr="horizontal-logo-green-text.jpg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" y="6354777"/>
            <a:ext cx="32512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948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106636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5pPr>
      <a:lvl6pPr marL="455855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6pPr>
      <a:lvl7pPr marL="911711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7pPr>
      <a:lvl8pPr marL="136756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8pPr>
      <a:lvl9pPr marL="1823420" algn="ctr" rtl="0" eaLnBrk="1" fontAlgn="base" hangingPunct="1">
        <a:spcBef>
          <a:spcPct val="0"/>
        </a:spcBef>
        <a:spcAft>
          <a:spcPct val="0"/>
        </a:spcAft>
        <a:defRPr sz="2400">
          <a:solidFill>
            <a:srgbClr val="106636"/>
          </a:solidFill>
          <a:latin typeface="Arial" charset="0"/>
          <a:cs typeface="Arial" charset="0"/>
        </a:defRPr>
      </a:lvl9pPr>
    </p:titleStyle>
    <p:bodyStyle>
      <a:lvl1pPr marL="340795" indent="-3407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rgbClr val="146737"/>
          </a:solidFill>
          <a:latin typeface="Arial" pitchFamily="34" charset="0"/>
          <a:ea typeface="+mn-ea"/>
          <a:cs typeface="Arial" pitchFamily="34" charset="0"/>
        </a:defRPr>
      </a:lvl1pPr>
      <a:lvl2pPr marL="740234" indent="-28373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138095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4598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1104" indent="-2266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07205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060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8914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4769" indent="-227932" algn="l" defTabSz="9117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855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711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56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420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273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129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0987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6842" algn="l" defTabSz="9117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hyperlink" Target="https://arxiv.org/abs/2411.14448" TargetMode="External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1.wdp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0" y="21770"/>
            <a:ext cx="12192000" cy="6463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Universal graph representation of stabilizer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476" y="869045"/>
            <a:ext cx="7025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Scientific Achievement</a:t>
            </a:r>
          </a:p>
          <a:p>
            <a:r>
              <a:rPr lang="en-US" sz="1200" dirty="0">
                <a:cs typeface="Arial" pitchFamily="34" charset="0"/>
              </a:rPr>
              <a:t>We demonstrate that graph theory can give significant insight into quantum error correction.  We prove an </a:t>
            </a:r>
            <a:r>
              <a:rPr lang="en-US" sz="1200" b="1" dirty="0">
                <a:cs typeface="Arial" pitchFamily="34" charset="0"/>
              </a:rPr>
              <a:t>exact universal correspondence between stabilizer codes and graphs</a:t>
            </a:r>
            <a:r>
              <a:rPr lang="en-US" sz="1200" dirty="0">
                <a:cs typeface="Arial" pitchFamily="34" charset="0"/>
              </a:rPr>
              <a:t>. We unify key </a:t>
            </a:r>
            <a:r>
              <a:rPr lang="en-US" sz="1200" b="1" dirty="0">
                <a:cs typeface="Arial" pitchFamily="34" charset="0"/>
              </a:rPr>
              <a:t>coding algorithms</a:t>
            </a:r>
            <a:r>
              <a:rPr lang="en-US" sz="1200" dirty="0">
                <a:cs typeface="Arial" pitchFamily="34" charset="0"/>
              </a:rPr>
              <a:t>—weight reduction, decoding, distance approximation—into </a:t>
            </a:r>
            <a:r>
              <a:rPr lang="en-US" sz="1200" b="1" dirty="0">
                <a:cs typeface="Arial" pitchFamily="34" charset="0"/>
              </a:rPr>
              <a:t>strategies of a single one-player game </a:t>
            </a:r>
            <a:r>
              <a:rPr lang="en-US" sz="1200" dirty="0">
                <a:cs typeface="Arial" pitchFamily="34" charset="0"/>
              </a:rPr>
              <a:t>on a graph. We use </a:t>
            </a:r>
            <a:r>
              <a:rPr lang="en-US" sz="1200" b="1" dirty="0">
                <a:cs typeface="Arial" pitchFamily="34" charset="0"/>
              </a:rPr>
              <a:t>graph theory to design new codes </a:t>
            </a:r>
            <a:r>
              <a:rPr lang="en-US" sz="1200" dirty="0">
                <a:cs typeface="Arial" pitchFamily="34" charset="0"/>
              </a:rPr>
              <a:t>with good rate/distance, </a:t>
            </a:r>
            <a:r>
              <a:rPr lang="en-US" sz="1200" b="1" dirty="0">
                <a:cs typeface="Arial" pitchFamily="34" charset="0"/>
              </a:rPr>
              <a:t>build efficient decoders </a:t>
            </a:r>
            <a:r>
              <a:rPr lang="en-US" sz="1200" dirty="0">
                <a:cs typeface="Arial" pitchFamily="34" charset="0"/>
              </a:rPr>
              <a:t>with </a:t>
            </a:r>
            <a:r>
              <a:rPr lang="en-US" sz="1200" b="1" dirty="0">
                <a:cs typeface="Arial" pitchFamily="34" charset="0"/>
              </a:rPr>
              <a:t>provable guarantees </a:t>
            </a:r>
            <a:r>
              <a:rPr lang="en-US" sz="1200" dirty="0">
                <a:cs typeface="Arial" pitchFamily="34" charset="0"/>
              </a:rPr>
              <a:t>on certain codes, and systematically implement certain </a:t>
            </a:r>
            <a:r>
              <a:rPr lang="en-US" sz="1200" b="1" dirty="0">
                <a:cs typeface="Arial" pitchFamily="34" charset="0"/>
              </a:rPr>
              <a:t>Clifford and non-Clifford gates</a:t>
            </a:r>
            <a:r>
              <a:rPr lang="en-US" sz="1200" dirty="0">
                <a:cs typeface="Arial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2164989"/>
            <a:ext cx="63912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Significance &amp; Impact</a:t>
            </a:r>
          </a:p>
          <a:p>
            <a:r>
              <a:rPr lang="en-US" sz="1200" dirty="0"/>
              <a:t>The stabilizer formalism of quantum codes has served as a very useful tool to </a:t>
            </a:r>
            <a:r>
              <a:rPr lang="en-US" sz="1200" b="1" dirty="0"/>
              <a:t>describe quantum codes, but not to construct them</a:t>
            </a:r>
            <a:r>
              <a:rPr lang="en-US" sz="1200" dirty="0"/>
              <a:t>. By converting stabilizer codes entirely into graphs, we open a path towards a </a:t>
            </a:r>
            <a:r>
              <a:rPr lang="en-US" sz="1200" b="1" dirty="0"/>
              <a:t>fully general recipe to construct stabilizer codes by finding graphs with sufficiently nice topological, geometric, etc. properties</a:t>
            </a:r>
            <a:r>
              <a:rPr lang="en-US" sz="1200" dirty="0"/>
              <a:t>. Similarly, algorithm construction can be reduced to studying strategies for the unified game on the graph. Our work is especially useful for </a:t>
            </a:r>
            <a:r>
              <a:rPr lang="en-US" sz="1200" b="1" dirty="0"/>
              <a:t>developing codes that work specifically for a desired experimental implementation with given constraints</a:t>
            </a:r>
            <a:r>
              <a:rPr lang="en-US" sz="12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7FB183-94B9-77EE-4944-B962CA432FE4}"/>
              </a:ext>
            </a:extLst>
          </p:cNvPr>
          <p:cNvSpPr txBox="1"/>
          <p:nvPr/>
        </p:nvSpPr>
        <p:spPr>
          <a:xfrm>
            <a:off x="5181600" y="3637474"/>
            <a:ext cx="67056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Details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en-US" sz="1200" dirty="0">
                <a:cs typeface="Arial" pitchFamily="34" charset="0"/>
              </a:rPr>
              <a:t>We construct a family of graphs that is in bijection with the set of stabilizer codes, represented by tableaus. We give an </a:t>
            </a:r>
            <a:r>
              <a:rPr lang="en-US" sz="1200" b="1" dirty="0">
                <a:cs typeface="Arial" pitchFamily="34" charset="0"/>
              </a:rPr>
              <a:t>efficient algorithm mapping tableaus to graphs and vice versa.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en-US" sz="1200" b="1" dirty="0">
                <a:cs typeface="Arial" pitchFamily="34" charset="0"/>
              </a:rPr>
              <a:t>Famous codes turn into simple geometric shapes </a:t>
            </a:r>
            <a:r>
              <a:rPr lang="en-US" sz="1200" dirty="0">
                <a:cs typeface="Arial" pitchFamily="34" charset="0"/>
              </a:rPr>
              <a:t>in the graph representation, e.g. a cube. The </a:t>
            </a:r>
            <a:r>
              <a:rPr lang="en-US" sz="1200" b="1" dirty="0">
                <a:cs typeface="Arial" pitchFamily="34" charset="0"/>
              </a:rPr>
              <a:t>degree of the graph upper bounds key properties </a:t>
            </a:r>
            <a:r>
              <a:rPr lang="en-US" sz="1200" dirty="0">
                <a:cs typeface="Arial" pitchFamily="34" charset="0"/>
              </a:rPr>
              <a:t>like distance and stabilizer weight.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en-US" sz="1200" dirty="0">
                <a:cs typeface="Arial" pitchFamily="34" charset="0"/>
              </a:rPr>
              <a:t>We </a:t>
            </a:r>
            <a:r>
              <a:rPr lang="en-US" sz="1200" b="1" dirty="0">
                <a:cs typeface="Arial" pitchFamily="34" charset="0"/>
              </a:rPr>
              <a:t>build new codes based on familiar graphs</a:t>
            </a:r>
            <a:r>
              <a:rPr lang="en-US" sz="1200" dirty="0">
                <a:cs typeface="Arial" pitchFamily="34" charset="0"/>
              </a:rPr>
              <a:t>. We introduce the </a:t>
            </a:r>
            <a:r>
              <a:rPr lang="en-US" sz="1200" b="1" dirty="0">
                <a:cs typeface="Arial" pitchFamily="34" charset="0"/>
              </a:rPr>
              <a:t>dodecahedral code</a:t>
            </a:r>
            <a:r>
              <a:rPr lang="en-US" sz="1200" dirty="0">
                <a:cs typeface="Arial" pitchFamily="34" charset="0"/>
              </a:rPr>
              <a:t>, which is a non-CSS code that strictly improves upon the 5-qubit code. We introduce the </a:t>
            </a:r>
            <a:r>
              <a:rPr lang="en-US" sz="1200" b="1" dirty="0">
                <a:cs typeface="Arial" pitchFamily="34" charset="0"/>
              </a:rPr>
              <a:t>hypercubic code </a:t>
            </a:r>
            <a:r>
              <a:rPr lang="en-US" sz="1200" dirty="0">
                <a:cs typeface="Arial" pitchFamily="34" charset="0"/>
              </a:rPr>
              <a:t>family, which has </a:t>
            </a:r>
            <a:r>
              <a:rPr lang="en-US" sz="1200" b="1" dirty="0">
                <a:cs typeface="Arial" pitchFamily="34" charset="0"/>
              </a:rPr>
              <a:t>high rate and good distance at small scales</a:t>
            </a:r>
            <a:r>
              <a:rPr lang="en-US" sz="1200" dirty="0">
                <a:cs typeface="Arial" pitchFamily="34" charset="0"/>
              </a:rPr>
              <a:t>.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en-US" sz="1200" dirty="0">
                <a:cs typeface="Arial" pitchFamily="34" charset="0"/>
              </a:rPr>
              <a:t>We prove that error correction algorithms can be represented in a unified way as strategies on a modified version of the game “Lights Out!” and call it Quantum Lights Out (QLO). We show that a </a:t>
            </a:r>
            <a:r>
              <a:rPr lang="en-US" sz="1200" b="1" dirty="0">
                <a:cs typeface="Arial" pitchFamily="34" charset="0"/>
              </a:rPr>
              <a:t>greedy QLO strategy efficiently decodes the hypercubic code</a:t>
            </a:r>
            <a:r>
              <a:rPr lang="en-US" sz="1200" dirty="0">
                <a:cs typeface="Arial" pitchFamily="34" charset="0"/>
              </a:rPr>
              <a:t>, lower bounding the distance.</a:t>
            </a:r>
          </a:p>
          <a:p>
            <a:pPr marL="285750" indent="-285750">
              <a:buFont typeface="Calibri" panose="020F0502020204030204" pitchFamily="34" charset="0"/>
              <a:buChar char="―"/>
            </a:pPr>
            <a:r>
              <a:rPr lang="en-US" sz="1200" dirty="0">
                <a:cs typeface="Arial" pitchFamily="34" charset="0"/>
              </a:rPr>
              <a:t>We use graphs to prove that </a:t>
            </a:r>
            <a:r>
              <a:rPr lang="en-US" sz="1200" b="1" dirty="0">
                <a:cs typeface="Arial" pitchFamily="34" charset="0"/>
              </a:rPr>
              <a:t>random codes have bounded stabilizer weight and high distance</a:t>
            </a:r>
            <a:r>
              <a:rPr lang="en-US" sz="1200" dirty="0">
                <a:cs typeface="Arial" pitchFamily="34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52CDA4-94BB-5F19-A69A-CFB67654D2C7}"/>
              </a:ext>
            </a:extLst>
          </p:cNvPr>
          <p:cNvSpPr txBox="1"/>
          <p:nvPr/>
        </p:nvSpPr>
        <p:spPr>
          <a:xfrm>
            <a:off x="479093" y="5638800"/>
            <a:ext cx="449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Figure: </a:t>
            </a:r>
            <a:r>
              <a:rPr lang="en-US" sz="1200" dirty="0">
                <a:solidFill>
                  <a:prstClr val="black"/>
                </a:solidFill>
              </a:rPr>
              <a:t>Correspondence between the graph representation and the tableau representation for (a) the 5-qubit code, (b) the 7-qubit Steane code, and (c) the 9-qubit Shor code.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74BDB1-992D-0C7F-234D-B64CA07CC1E7}"/>
              </a:ext>
            </a:extLst>
          </p:cNvPr>
          <p:cNvSpPr txBox="1"/>
          <p:nvPr/>
        </p:nvSpPr>
        <p:spPr>
          <a:xfrm>
            <a:off x="3733800" y="6355672"/>
            <a:ext cx="5101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Khesin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B., Lu, J. Z., &amp; Shor, P. W. (2024). Universal graph representation of stabilizer codes. </a:t>
            </a:r>
            <a:r>
              <a:rPr lang="en-US" sz="10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/>
              </a:rPr>
              <a:t>arXiv:2411.14448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000" dirty="0">
              <a:solidFill>
                <a:srgbClr val="10663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5F975A-B675-ABAD-5E85-B1E963153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149" y="6312763"/>
            <a:ext cx="1476375" cy="5524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024386-CC04-60E3-5EBF-25728B707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9444" y1="45843" x2="39444" y2="45843"/>
                        <a14:foregroundMark x1="47963" y1="44688" x2="47963" y2="44688"/>
                        <a14:foregroundMark x1="54352" y1="38799" x2="54352" y2="38799"/>
                        <a14:foregroundMark x1="63796" y1="38684" x2="63796" y2="38684"/>
                        <a14:foregroundMark x1="60093" y1="53002" x2="60093" y2="53002"/>
                        <a14:foregroundMark x1="54630" y1="53002" x2="54630" y2="53002"/>
                      </a14:backgroundRemoval>
                    </a14:imgEffect>
                  </a14:imgLayer>
                </a14:imgProps>
              </a:ext>
            </a:extLst>
          </a:blip>
          <a:srcRect l="30553" t="34261" r="34154" b="36759"/>
          <a:stretch/>
        </p:blipFill>
        <p:spPr>
          <a:xfrm>
            <a:off x="9067800" y="6330135"/>
            <a:ext cx="685800" cy="45118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67B3BD1-E2F6-11D6-DC8E-0DA6CE38EC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031" y="1021165"/>
            <a:ext cx="1462371" cy="142152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61490C8-6925-2061-D993-B27225A795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654" y="2704302"/>
            <a:ext cx="1655123" cy="131871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AB3DDD-539F-04E5-CA4A-7620B3FF01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5030" y="4284632"/>
            <a:ext cx="1462372" cy="1244299"/>
          </a:xfrm>
          <a:prstGeom prst="rect">
            <a:avLst/>
          </a:prstGeom>
        </p:spPr>
      </p:pic>
      <p:pic>
        <p:nvPicPr>
          <p:cNvPr id="14" name="Picture 13" descr="A black and white rectangular pattern with letters&#10;&#10;Description automatically generated with medium confidence">
            <a:extLst>
              <a:ext uri="{FF2B5EF4-FFF2-40B4-BE49-F238E27FC236}">
                <a16:creationId xmlns:a16="http://schemas.microsoft.com/office/drawing/2014/main" id="{01A1AA76-A850-0A80-08EF-EEEDF8C72C7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994" y="4024263"/>
            <a:ext cx="1505165" cy="1614537"/>
          </a:xfrm>
          <a:prstGeom prst="rect">
            <a:avLst/>
          </a:prstGeom>
        </p:spPr>
      </p:pic>
      <p:pic>
        <p:nvPicPr>
          <p:cNvPr id="16" name="Picture 15" descr="A black and white grid with letters&#10;&#10;Description automatically generated with medium confidence">
            <a:extLst>
              <a:ext uri="{FF2B5EF4-FFF2-40B4-BE49-F238E27FC236}">
                <a16:creationId xmlns:a16="http://schemas.microsoft.com/office/drawing/2014/main" id="{582FCE06-2DD5-45DA-D28C-1C3787E13B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73" y="2559071"/>
            <a:ext cx="1345406" cy="1323440"/>
          </a:xfrm>
          <a:prstGeom prst="rect">
            <a:avLst/>
          </a:prstGeom>
        </p:spPr>
      </p:pic>
      <p:pic>
        <p:nvPicPr>
          <p:cNvPr id="18" name="Picture 17" descr="A black letter in a square&#10;&#10;Description automatically generated">
            <a:extLst>
              <a:ext uri="{FF2B5EF4-FFF2-40B4-BE49-F238E27FC236}">
                <a16:creationId xmlns:a16="http://schemas.microsoft.com/office/drawing/2014/main" id="{F6165858-696B-CB25-6EC5-4C5DFC35F7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166" y="1254194"/>
            <a:ext cx="1026238" cy="95546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278080-0CA2-2927-E2FB-171992C38368}"/>
              </a:ext>
            </a:extLst>
          </p:cNvPr>
          <p:cNvCxnSpPr>
            <a:endCxn id="18" idx="1"/>
          </p:cNvCxnSpPr>
          <p:nvPr/>
        </p:nvCxnSpPr>
        <p:spPr>
          <a:xfrm>
            <a:off x="1877402" y="1731925"/>
            <a:ext cx="1065764" cy="1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227D3C-2E25-E8FC-08F6-9DB9237D0C6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81200" y="3220791"/>
            <a:ext cx="825673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7BE59D-CF3D-1408-8D99-910D52040D0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973777" y="4831532"/>
            <a:ext cx="753217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503F2E-2A66-2229-4942-FBF93BB0D29A}"/>
              </a:ext>
            </a:extLst>
          </p:cNvPr>
          <p:cNvSpPr txBox="1"/>
          <p:nvPr/>
        </p:nvSpPr>
        <p:spPr>
          <a:xfrm>
            <a:off x="265644" y="997331"/>
            <a:ext cx="47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(a)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DABA78-145F-8950-30C5-0B6FB5292165}"/>
              </a:ext>
            </a:extLst>
          </p:cNvPr>
          <p:cNvSpPr txBox="1"/>
          <p:nvPr/>
        </p:nvSpPr>
        <p:spPr>
          <a:xfrm>
            <a:off x="262249" y="2594433"/>
            <a:ext cx="575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(b)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DDFD86-2048-397A-4D64-A7DC28A940AD}"/>
              </a:ext>
            </a:extLst>
          </p:cNvPr>
          <p:cNvSpPr txBox="1"/>
          <p:nvPr/>
        </p:nvSpPr>
        <p:spPr>
          <a:xfrm>
            <a:off x="262249" y="4174763"/>
            <a:ext cx="575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(c)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FAF701-4265-4D1B-AE9B-B1560873B4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600" b="0" dirty="0">
                    <a:solidFill>
                      <a:schemeClr val="tx1"/>
                    </a:solidFill>
                  </a:rPr>
                  <a:t>We introduce a representation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stabilizer codes as graphs with certain structures. Specifically, the </a:t>
                </a:r>
                <a:r>
                  <a:rPr lang="en-US" sz="1600" dirty="0">
                    <a:solidFill>
                      <a:schemeClr val="tx1"/>
                    </a:solidFill>
                  </a:rPr>
                  <a:t>graphs take a semi-bipartite form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 wherein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“input” nodes map to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“output" nodes, such that output nodes may connect to each other but input nodes may not. 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We prove that this graph representation is in bijection with tableaus and give </a:t>
                </a:r>
                <a:r>
                  <a:rPr lang="en-US" sz="1600" dirty="0">
                    <a:solidFill>
                      <a:schemeClr val="tx1"/>
                    </a:solidFill>
                  </a:rPr>
                  <a:t>an efficient compilation algorithm that transforms tableaus into graphs. We then show that this map is efficiently invertible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, which gives a new universal recipe for code construction by way of finding graphs with sufficiently nice properties.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We argue that graphs provide </a:t>
                </a:r>
                <a:r>
                  <a:rPr lang="en-US" sz="1600" dirty="0">
                    <a:solidFill>
                      <a:schemeClr val="tx1"/>
                    </a:solidFill>
                  </a:rPr>
                  <a:t>a flexible platform for building codes 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particularly at smaller (non-asymptotic) scales. We construct as examples constant-size codes, e.g.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[[54, 6, 5]]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code and a family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]]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codes. 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We also leverage graphs in a probabilistic analysis to extend the quantum Gilbert-</a:t>
                </a:r>
                <a:r>
                  <a:rPr lang="en-US" sz="1600" b="0" dirty="0" err="1">
                    <a:solidFill>
                      <a:schemeClr val="tx1"/>
                    </a:solidFill>
                  </a:rPr>
                  <a:t>Varshamov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 bound into a </a:t>
                </a:r>
                <a:r>
                  <a:rPr lang="en-US" sz="1600" dirty="0">
                    <a:solidFill>
                      <a:schemeClr val="tx1"/>
                    </a:solidFill>
                  </a:rPr>
                  <a:t>three-way distance-rate-weight tradeoff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We show that </a:t>
                </a:r>
                <a:r>
                  <a:rPr lang="en-US" sz="1600" dirty="0">
                    <a:solidFill>
                      <a:schemeClr val="tx1"/>
                    </a:solidFill>
                  </a:rPr>
                  <a:t>key coding algorithms—distance approximation, weight reduction, and decoding—are unified as instances of a single optimization game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 on a graph. Moreover, key code properties such as distance, weight, and encoding circuit depth, are all </a:t>
                </a:r>
                <a:r>
                  <a:rPr lang="en-US" sz="1600" dirty="0">
                    <a:solidFill>
                      <a:schemeClr val="tx1"/>
                    </a:solidFill>
                  </a:rPr>
                  <a:t>controlled by the graph degree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We give </a:t>
                </a:r>
                <a:r>
                  <a:rPr lang="en-US" sz="1600" dirty="0">
                    <a:solidFill>
                      <a:schemeClr val="tx1"/>
                    </a:solidFill>
                  </a:rPr>
                  <a:t>efficient algorithms for producing simple encoding circuits whose depths scale as twice the degree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 and </a:t>
                </a:r>
                <a:r>
                  <a:rPr lang="en-US" sz="1600" dirty="0">
                    <a:solidFill>
                      <a:schemeClr val="tx1"/>
                    </a:solidFill>
                  </a:rPr>
                  <a:t>for implementing logical diagonal and certain Clifford gates with non-constant but reduced depth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1600" b="0" dirty="0">
                    <a:solidFill>
                      <a:schemeClr val="tx1"/>
                    </a:solidFill>
                  </a:rPr>
                  <a:t>Finally, we construct a </a:t>
                </a:r>
                <a:r>
                  <a:rPr lang="en-US" sz="1600" dirty="0">
                    <a:solidFill>
                      <a:schemeClr val="tx1"/>
                    </a:solidFill>
                  </a:rPr>
                  <a:t>simple efficient decoding algorithm and prove a performance guarantee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 for a certain class of graphs, including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]]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</a:rPr>
                  <a:t> code. These results </a:t>
                </a:r>
                <a:r>
                  <a:rPr lang="en-US" sz="1600" dirty="0">
                    <a:solidFill>
                      <a:schemeClr val="tx1"/>
                    </a:solidFill>
                  </a:rPr>
                  <a:t>give evidence that graphs are generically useful for the study of stabilizer codes and their practical implementations</a:t>
                </a:r>
                <a:r>
                  <a:rPr lang="en-US" sz="1600" b="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FAF701-4265-4D1B-AE9B-B1560873B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" t="-482" r="-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CFFB2A-FECE-4FAF-81A1-13A26739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Highlights – What we did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91078-368C-40D8-8521-6D743D6173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76000" y="6351589"/>
            <a:ext cx="609600" cy="365125"/>
          </a:xfrm>
        </p:spPr>
        <p:txBody>
          <a:bodyPr/>
          <a:lstStyle/>
          <a:p>
            <a:pPr>
              <a:defRPr/>
            </a:pPr>
            <a:fld id="{371BFFFE-0D05-4D66-940B-5D906D67495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2227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06636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5_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06636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6_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4673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7_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06636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2QA Document" ma:contentTypeID="0x0101002ECE01868E6F7C468575858CD801D2E300BB2327AAAE98F64B995CBD50976E3C3A" ma:contentTypeVersion="9" ma:contentTypeDescription="" ma:contentTypeScope="" ma:versionID="350e3f762843819bcebe496735d822d4">
  <xsd:schema xmlns:xsd="http://www.w3.org/2001/XMLSchema" xmlns:xs="http://www.w3.org/2001/XMLSchema" xmlns:p="http://schemas.microsoft.com/office/2006/metadata/properties" xmlns:ns2="bb0dd7db-3cb2-42fd-b42f-064895cc48d8" xmlns:ns3="54560fc8-d9c0-4fd1-9993-09ce464ddc92" xmlns:ns4="3bfd71d5-c7ac-4dca-b865-a609d1eb4074" targetNamespace="http://schemas.microsoft.com/office/2006/metadata/properties" ma:root="true" ma:fieldsID="b21efc6767c22350ce4191a7db0024d1" ns2:_="" ns3:_="" ns4:_="">
    <xsd:import namespace="bb0dd7db-3cb2-42fd-b42f-064895cc48d8"/>
    <xsd:import namespace="54560fc8-d9c0-4fd1-9993-09ce464ddc92"/>
    <xsd:import namespace="3bfd71d5-c7ac-4dca-b865-a609d1eb4074"/>
    <xsd:element name="properties">
      <xsd:complexType>
        <xsd:sequence>
          <xsd:element name="documentManagement">
            <xsd:complexType>
              <xsd:all>
                <xsd:element ref="ns2:C2QA_x0020_Document_x0020_Type" minOccurs="0"/>
                <xsd:element ref="ns2:C2QA_x0020_Document_x0020_Category" minOccurs="0"/>
                <xsd:element ref="ns2:C2QA_x0020_Thrust_x0020_Area" minOccurs="0"/>
                <xsd:element ref="ns2:C2QA_x0020_Mission_x0020_Target" minOccurs="0"/>
                <xsd:element ref="ns2:C2QA_x0020_Technical_x0020_Area" minOccurs="0"/>
                <xsd:element ref="ns2:C2QA_x0020_Affiliation" minOccurs="0"/>
                <xsd:element ref="ns2:C2QA_x0020_Is_x0020_Record" minOccurs="0"/>
                <xsd:element ref="ns2:C2QA_x0020_Document_x0020_Owner" minOccurs="0"/>
                <xsd:element ref="ns2:C2QA_x0020_Document_x0020_Status" minOccurs="0"/>
                <xsd:element ref="ns2:C2QA_x0020_Document_x0020_Review_x0020_Frequency" minOccurs="0"/>
                <xsd:element ref="ns2:C2QA_x0020_Document_x0020_Last_x0020_Reviewed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0dd7db-3cb2-42fd-b42f-064895cc48d8" elementFormDefault="qualified">
    <xsd:import namespace="http://schemas.microsoft.com/office/2006/documentManagement/types"/>
    <xsd:import namespace="http://schemas.microsoft.com/office/infopath/2007/PartnerControls"/>
    <xsd:element name="C2QA_x0020_Document_x0020_Type" ma:index="8" nillable="true" ma:displayName="C2QA Document Type" ma:list="{e7120ffc-1e39-4d38-aa07-25ceb32aef91}" ma:internalName="C2QA_x0020_Document_x0020_Type" ma:showField="Title" ma:web="bb0dd7db-3cb2-42fd-b42f-064895cc48d8">
      <xsd:simpleType>
        <xsd:restriction base="dms:Lookup"/>
      </xsd:simpleType>
    </xsd:element>
    <xsd:element name="C2QA_x0020_Document_x0020_Category" ma:index="9" nillable="true" ma:displayName="C2QA Document Category" ma:list="{d7b4edb9-dab3-4a4d-a4d2-c3ef990b6ab8}" ma:internalName="C2QA_x0020_Document_x0020_Category" ma:showField="Title" ma:web="bb0dd7db-3cb2-42fd-b42f-064895cc48d8">
      <xsd:simpleType>
        <xsd:restriction base="dms:Lookup"/>
      </xsd:simpleType>
    </xsd:element>
    <xsd:element name="C2QA_x0020_Thrust_x0020_Area" ma:index="10" nillable="true" ma:displayName="C2QA Thrust Area" ma:default="n/a" ma:format="Dropdown" ma:internalName="C2QA_x0020_Thrust_x0020_Area">
      <xsd:simpleType>
        <xsd:restriction base="dms:Choice">
          <xsd:enumeration value="Business Operations"/>
          <xsd:enumeration value="Data Management"/>
          <xsd:enumeration value="Devices"/>
          <xsd:enumeration value="Materials"/>
          <xsd:enumeration value="Software &amp; Applications"/>
          <xsd:enumeration value="XCITe"/>
          <xsd:enumeration value="n/a"/>
        </xsd:restriction>
      </xsd:simpleType>
    </xsd:element>
    <xsd:element name="C2QA_x0020_Mission_x0020_Target" ma:index="11" nillable="true" ma:displayName="C2QA Mission Target" ma:default="n/a" ma:format="Dropdown" ma:internalName="C2QA_x0020_Mission_x0020_Target">
      <xsd:simpleType>
        <xsd:restriction base="dms:Choice">
          <xsd:enumeration value="Ecosystem Stewardship"/>
          <xsd:enumeration value="Instrumentation &amp; Facilities"/>
          <xsd:enumeration value="Management &amp; Operations"/>
          <xsd:enumeration value="Research &amp; Development"/>
          <xsd:enumeration value="Workforce Development"/>
          <xsd:enumeration value="n/a"/>
        </xsd:restriction>
      </xsd:simpleType>
    </xsd:element>
    <xsd:element name="C2QA_x0020_Technical_x0020_Area" ma:index="12" nillable="true" ma:displayName="C2QA Technical Area" ma:default="n/a" ma:format="Dropdown" ma:internalName="C2QA_x0020_Technical_x0020_Area">
      <xsd:simpleType>
        <xsd:restriction base="dms:Choice">
          <xsd:enumeration value="Materials and Chemistry"/>
          <xsd:enumeration value="Quantum Communication"/>
          <xsd:enumeration value="Quantum Computation &amp; Emulation"/>
          <xsd:enumeration value="Quantum Sensors and Devices"/>
          <xsd:enumeration value="Quantum Systems and Applications"/>
          <xsd:enumeration value="n/a"/>
        </xsd:restriction>
      </xsd:simpleType>
    </xsd:element>
    <xsd:element name="C2QA_x0020_Affiliation" ma:index="13" nillable="true" ma:displayName="C2QA Affiliation" ma:list="{8f74d3a4-d301-4ac7-aaa2-a6854dfd49ce}" ma:internalName="C2QA_x0020_Affiliation" ma:showField="Title" ma:web="bb0dd7db-3cb2-42fd-b42f-064895cc48d8">
      <xsd:simpleType>
        <xsd:restriction base="dms:Lookup"/>
      </xsd:simpleType>
    </xsd:element>
    <xsd:element name="C2QA_x0020_Is_x0020_Record" ma:index="14" nillable="true" ma:displayName="C2QA Is Record" ma:default="(0) n/a" ma:format="Dropdown" ma:internalName="C2QA_x0020_Is_x0020_Record">
      <xsd:simpleType>
        <xsd:restriction base="dms:Choice">
          <xsd:enumeration value="(0) n/a"/>
          <xsd:enumeration value="(1) Yes"/>
          <xsd:enumeration value="(2) Under Review"/>
        </xsd:restriction>
      </xsd:simpleType>
    </xsd:element>
    <xsd:element name="C2QA_x0020_Document_x0020_Owner" ma:index="15" nillable="true" ma:displayName="C2QA Document Owner" ma:list="UserInfo" ma:SharePointGroup="0" ma:internalName="C2QA_x0020_Docum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2QA_x0020_Document_x0020_Status" ma:index="16" nillable="true" ma:displayName="C2QA Document Status" ma:default="(0) Draft" ma:format="Dropdown" ma:internalName="C2QA_x0020_Document_x0020_Status">
      <xsd:simpleType>
        <xsd:restriction base="dms:Choice">
          <xsd:enumeration value="(0) Draft"/>
          <xsd:enumeration value="(1) Ongoing - Approved"/>
          <xsd:enumeration value="(2) Final - Approved"/>
        </xsd:restriction>
      </xsd:simpleType>
    </xsd:element>
    <xsd:element name="C2QA_x0020_Document_x0020_Review_x0020_Frequency" ma:index="17" nillable="true" ma:displayName="C2QA Document Review Frequency" ma:default="(0) n/a" ma:format="Dropdown" ma:internalName="C2QA_x0020_Document_x0020_Review_x0020_Frequency">
      <xsd:simpleType>
        <xsd:restriction base="dms:Choice">
          <xsd:enumeration value="(0) n/a"/>
          <xsd:enumeration value="(1) Monthly"/>
          <xsd:enumeration value="(2) Quarterly"/>
          <xsd:enumeration value="(3) Annually"/>
        </xsd:restriction>
      </xsd:simpleType>
    </xsd:element>
    <xsd:element name="C2QA_x0020_Document_x0020_Last_x0020_Reviewed" ma:index="18" nillable="true" ma:displayName="C2QA Document Last Reviewed" ma:default="[today]" ma:format="DateOnly" ma:internalName="C2QA_x0020_Document_x0020_Last_x0020_Review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560fc8-d9c0-4fd1-9993-09ce464ddc92" elementFormDefault="qualified">
    <xsd:import namespace="http://schemas.microsoft.com/office/2006/documentManagement/types"/>
    <xsd:import namespace="http://schemas.microsoft.com/office/infopath/2007/PartnerControls"/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325a567-783b-4eae-ad25-f71283ef2f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d71d5-c7ac-4dca-b865-a609d1eb4074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f6df5ca8-bc8b-4e2d-a913-cb69c06518cd}" ma:internalName="TaxCatchAll" ma:showField="CatchAllData" ma:web="bb0dd7db-3cb2-42fd-b42f-064895cc48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2QA_x0020_Thrust_x0020_Area xmlns="bb0dd7db-3cb2-42fd-b42f-064895cc48d8">n/a</C2QA_x0020_Thrust_x0020_Area>
    <C2QA_x0020_Document_x0020_Review_x0020_Frequency xmlns="bb0dd7db-3cb2-42fd-b42f-064895cc48d8">(0) n/a</C2QA_x0020_Document_x0020_Review_x0020_Frequency>
    <C2QA_x0020_Mission_x0020_Target xmlns="bb0dd7db-3cb2-42fd-b42f-064895cc48d8">n/a</C2QA_x0020_Mission_x0020_Target>
    <C2QA_x0020_Technical_x0020_Area xmlns="bb0dd7db-3cb2-42fd-b42f-064895cc48d8">n/a</C2QA_x0020_Technical_x0020_Area>
    <C2QA_x0020_Document_x0020_Last_x0020_Reviewed xmlns="bb0dd7db-3cb2-42fd-b42f-064895cc48d8">2022-01-24T14:21:53+00:00</C2QA_x0020_Document_x0020_Last_x0020_Reviewed>
    <C2QA_x0020_Is_x0020_Record xmlns="bb0dd7db-3cb2-42fd-b42f-064895cc48d8">(0) n/a</C2QA_x0020_Is_x0020_Record>
    <C2QA_x0020_Document_x0020_Status xmlns="bb0dd7db-3cb2-42fd-b42f-064895cc48d8">(0) Draft</C2QA_x0020_Document_x0020_Status>
    <C2QA_x0020_Affiliation xmlns="bb0dd7db-3cb2-42fd-b42f-064895cc48d8" xsi:nil="true"/>
    <C2QA_x0020_Document_x0020_Type xmlns="bb0dd7db-3cb2-42fd-b42f-064895cc48d8" xsi:nil="true"/>
    <C2QA_x0020_Document_x0020_Owner xmlns="bb0dd7db-3cb2-42fd-b42f-064895cc48d8">
      <UserInfo>
        <DisplayName/>
        <AccountId xsi:nil="true"/>
        <AccountType/>
      </UserInfo>
    </C2QA_x0020_Document_x0020_Owner>
    <C2QA_x0020_Document_x0020_Category xmlns="bb0dd7db-3cb2-42fd-b42f-064895cc48d8" xsi:nil="true"/>
    <lcf76f155ced4ddcb4097134ff3c332f xmlns="54560fc8-d9c0-4fd1-9993-09ce464ddc92">
      <Terms xmlns="http://schemas.microsoft.com/office/infopath/2007/PartnerControls"/>
    </lcf76f155ced4ddcb4097134ff3c332f>
    <TaxCatchAll xmlns="3bfd71d5-c7ac-4dca-b865-a609d1eb4074" xsi:nil="true"/>
  </documentManagement>
</p:properties>
</file>

<file path=customXml/itemProps1.xml><?xml version="1.0" encoding="utf-8"?>
<ds:datastoreItem xmlns:ds="http://schemas.openxmlformats.org/officeDocument/2006/customXml" ds:itemID="{98AD7E6C-8D09-4255-9A95-12B6D20E83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0dd7db-3cb2-42fd-b42f-064895cc48d8"/>
    <ds:schemaRef ds:uri="54560fc8-d9c0-4fd1-9993-09ce464ddc92"/>
    <ds:schemaRef ds:uri="3bfd71d5-c7ac-4dca-b865-a609d1eb40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BA8D15-34D8-48FA-BFC5-8857891C8F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63674-4DEB-4868-A665-EC1D3AB09253}">
  <ds:schemaRefs>
    <ds:schemaRef ds:uri="http://schemas.microsoft.com/office/2006/metadata/properties"/>
    <ds:schemaRef ds:uri="http://schemas.microsoft.com/office/infopath/2007/PartnerControls"/>
    <ds:schemaRef ds:uri="bb0dd7db-3cb2-42fd-b42f-064895cc48d8"/>
    <ds:schemaRef ds:uri="54560fc8-d9c0-4fd1-9993-09ce464ddc92"/>
    <ds:schemaRef ds:uri="3bfd71d5-c7ac-4dca-b865-a609d1eb40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4147</TotalTime>
  <Words>784</Words>
  <Application>Microsoft Macintosh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2</vt:i4>
      </vt:variant>
    </vt:vector>
  </HeadingPairs>
  <TitlesOfParts>
    <vt:vector size="31" baseType="lpstr">
      <vt:lpstr>Arial</vt:lpstr>
      <vt:lpstr>Arial Narrow</vt:lpstr>
      <vt:lpstr>Baskerville</vt:lpstr>
      <vt:lpstr>Book Antiqua</vt:lpstr>
      <vt:lpstr>Calibri</vt:lpstr>
      <vt:lpstr>Cambria Math</vt:lpstr>
      <vt:lpstr>TimesNewRomanPSMT</vt:lpstr>
      <vt:lpstr>Wingdings</vt:lpstr>
      <vt:lpstr>Theme3</vt:lpstr>
      <vt:lpstr>1_Office Theme</vt:lpstr>
      <vt:lpstr>5_Default Design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1_Theme3</vt:lpstr>
      <vt:lpstr>8_Office Theme</vt:lpstr>
      <vt:lpstr>6_Default Design</vt:lpstr>
      <vt:lpstr>9_Office Theme</vt:lpstr>
      <vt:lpstr>10_Office Theme</vt:lpstr>
      <vt:lpstr>11_Office Theme</vt:lpstr>
      <vt:lpstr>12_Office Theme</vt:lpstr>
      <vt:lpstr>13_Office Theme</vt:lpstr>
      <vt:lpstr>14_Office Theme</vt:lpstr>
      <vt:lpstr>15_Office Theme</vt:lpstr>
      <vt:lpstr>16_Office Theme</vt:lpstr>
      <vt:lpstr>17_Office Theme</vt:lpstr>
      <vt:lpstr>Universal graph representation of stabilizer codes</vt:lpstr>
      <vt:lpstr>Highlights – What we did</vt:lpstr>
    </vt:vector>
  </TitlesOfParts>
  <Company>US Department of Energy (SC)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helpdesk</dc:creator>
  <cp:lastModifiedBy>Jonathan Lu</cp:lastModifiedBy>
  <cp:revision>363</cp:revision>
  <dcterms:created xsi:type="dcterms:W3CDTF">2010-12-15T20:48:04Z</dcterms:created>
  <dcterms:modified xsi:type="dcterms:W3CDTF">2024-12-06T01:15:23Z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0x0101002ECE01868E6F7C468575858CD801D2E300BB2327AAAE98F64B995CBD50976E3C3A</vt:lpwstr>
  </property>
  <property fmtid="{D5CDD505-2E9C-101B-9397-08002B2CF9AE}" pid="3" name="MediaServiceImageTags">
    <vt:lpwstr/>
  </property>
</Properties>
</file>